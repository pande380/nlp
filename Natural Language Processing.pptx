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64" r:id="rId6"/>
    <p:sldId id="258" r:id="rId7"/>
    <p:sldId id="259" r:id="rId8"/>
    <p:sldId id="266" r:id="rId9"/>
    <p:sldId id="260" r:id="rId10"/>
    <p:sldId id="261" r:id="rId11"/>
    <p:sldId id="270" r:id="rId12"/>
    <p:sldId id="267" r:id="rId13"/>
    <p:sldId id="268" r:id="rId14"/>
    <p:sldId id="27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0" autoAdjust="0"/>
    <p:restoredTop sz="94660"/>
  </p:normalViewPr>
  <p:slideViewPr>
    <p:cSldViewPr snapToGrid="0">
      <p:cViewPr>
        <p:scale>
          <a:sx n="58" d="100"/>
          <a:sy n="58" d="100"/>
        </p:scale>
        <p:origin x="121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9F7B3D-DFB3-417C-A796-C6C2C98719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F5094-9D36-4A9C-A619-758E63E15276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hueMod val="88000"/>
                <a:satMod val="130000"/>
                <a:lumMod val="124000"/>
              </a:schemeClr>
            </a:gs>
            <a:gs pos="100000">
              <a:schemeClr val="bg1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By group 1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Natural Language Processing </a:t>
            </a:r>
            <a:endParaRPr lang="en-US" dirty="0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Loading &amp; Preprocessing 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This section handles </a:t>
            </a:r>
            <a:r>
              <a:rPr lang="en-US" sz="1400" b="1"/>
              <a:t>preparing the data</a:t>
            </a:r>
            <a:r>
              <a:rPr lang="en-US" sz="1400"/>
              <a:t> so it can be used by the models later.</a:t>
            </a:r>
            <a:br>
              <a:rPr lang="en-US" sz="1400"/>
            </a:br>
            <a:r>
              <a:rPr lang="en-US" sz="1400"/>
              <a:t>It usually includes: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/>
              <a:t>Installing dependencies</a:t>
            </a:r>
            <a:r>
              <a:rPr lang="en-US" sz="1400"/>
              <a:t> – making sure all Python libraries (like TensorFlow, </a:t>
            </a:r>
            <a:r>
              <a:rPr lang="en-US" sz="1400" err="1"/>
              <a:t>Gensim</a:t>
            </a:r>
            <a:r>
              <a:rPr lang="en-US" sz="1400"/>
              <a:t>, etc.) are available.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/>
              <a:t>Importing libraries</a:t>
            </a:r>
            <a:r>
              <a:rPr lang="en-US" sz="1400"/>
              <a:t> – such as </a:t>
            </a:r>
            <a:r>
              <a:rPr lang="en-US" sz="1400" err="1"/>
              <a:t>numpy</a:t>
            </a:r>
            <a:r>
              <a:rPr lang="en-US" sz="1400"/>
              <a:t>, pandas, and </a:t>
            </a:r>
            <a:r>
              <a:rPr lang="en-US" sz="1400" err="1"/>
              <a:t>keras</a:t>
            </a:r>
            <a:r>
              <a:rPr lang="en-US" sz="1400"/>
              <a:t> for modeling and data manipulation.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/>
              <a:t>Loading the dataset</a:t>
            </a:r>
            <a:r>
              <a:rPr lang="en-US" sz="1400"/>
              <a:t> – probably a Swahili sentiment dataset (e.g., tweets or reviews labeled as positive/negative).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/>
              <a:t>Text preprocessing</a:t>
            </a:r>
            <a:r>
              <a:rPr lang="en-US" sz="1400"/>
              <a:t> – cleaning and normalizing text (removing punctuation, </a:t>
            </a:r>
            <a:r>
              <a:rPr lang="en-US" sz="1400" err="1"/>
              <a:t>stopwords</a:t>
            </a:r>
            <a:r>
              <a:rPr lang="en-US" sz="1400"/>
              <a:t>, tokenizing, lowercasing).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/>
              <a:t>Splitting data</a:t>
            </a:r>
            <a:r>
              <a:rPr lang="en-US" sz="1400"/>
              <a:t> – dividing into training, validation, and test sets.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/>
              <a:t>Essentially, this section prepares </a:t>
            </a:r>
            <a:r>
              <a:rPr lang="en-US" sz="1400" b="1"/>
              <a:t>clean, tokenized text and labels</a:t>
            </a:r>
            <a:r>
              <a:rPr lang="en-US" sz="1400"/>
              <a:t> for later models.</a:t>
            </a:r>
            <a:endParaRPr lang="en-US" sz="1400"/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Picture 1049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52" name="Picture 1051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54" name="Oval 10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56" name="Picture 105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58" name="Picture 105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60" name="Rectangle 10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2" name="Rectangle 10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64" name="Rectangle 10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5458121" cy="5897880"/>
          </a:xfrm>
          <a:prstGeom prst="rect">
            <a:avLst/>
          </a:prstGeom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31" y="643467"/>
            <a:ext cx="4777188" cy="5571066"/>
          </a:xfrm>
          <a:prstGeom prst="rect">
            <a:avLst/>
          </a:prstGeom>
        </p:spPr>
      </p:pic>
      <p:sp useBgFill="1">
        <p:nvSpPr>
          <p:cNvPr id="1066" name="Rectangle 10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256866" y="474979"/>
            <a:ext cx="5458121" cy="5897880"/>
          </a:xfrm>
          <a:prstGeom prst="rect">
            <a:avLst/>
          </a:prstGeom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3321" y="1594748"/>
            <a:ext cx="5134516" cy="36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4" name="Picture 2093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95" name="Picture 209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096" name="Oval 209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97" name="Picture 209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98" name="Picture 209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99" name="Rectangle 209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00" name="Rectangle 209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956816"/>
            <a:ext cx="10905066" cy="2944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1" name="Rectangle 210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BiLSTM Model with Custom Embeddings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Here the notebook builds a </a:t>
            </a:r>
            <a:r>
              <a:rPr lang="en-US" sz="1700" b="1" dirty="0"/>
              <a:t>Bidirectional LSTM (</a:t>
            </a:r>
            <a:r>
              <a:rPr lang="en-US" sz="1700" b="1" dirty="0" err="1"/>
              <a:t>BiLSTM</a:t>
            </a:r>
            <a:r>
              <a:rPr lang="en-US" sz="1700" b="1" dirty="0"/>
              <a:t>)</a:t>
            </a:r>
            <a:r>
              <a:rPr lang="en-US" sz="1700" dirty="0"/>
              <a:t> model — a type of recurrent neural network that reads text in both forward and backward directions, capturing context more effectively.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Steps  include: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b="1" dirty="0"/>
              <a:t>Defining the model architecture</a:t>
            </a:r>
            <a:r>
              <a:rPr lang="en-US" sz="1700" dirty="0"/>
              <a:t> – embedding layer, </a:t>
            </a:r>
            <a:r>
              <a:rPr lang="en-US" sz="1700" dirty="0" err="1"/>
              <a:t>BiLSTM</a:t>
            </a:r>
            <a:r>
              <a:rPr lang="en-US" sz="1700" dirty="0"/>
              <a:t> layer(s), dense layer for classification.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b="1" dirty="0"/>
              <a:t>Training the model</a:t>
            </a:r>
            <a:r>
              <a:rPr lang="en-US" sz="1700" dirty="0"/>
              <a:t> – feeding the preprocessed text data into it.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b="1" dirty="0"/>
              <a:t>Evaluating the model</a:t>
            </a:r>
            <a:r>
              <a:rPr lang="en-US" sz="1700" dirty="0"/>
              <a:t> – checking accuracy, F1-score, or confusion matrix.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This demonstrates how to build a </a:t>
            </a:r>
            <a:r>
              <a:rPr lang="en-US" sz="1700" b="1" dirty="0"/>
              <a:t>sequence-based sentiment classifier</a:t>
            </a:r>
            <a:r>
              <a:rPr lang="en-US" sz="1700" dirty="0"/>
              <a:t> using deep learning from scratch.</a:t>
            </a:r>
            <a:endParaRPr lang="en-US" sz="1700" dirty="0"/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-1" t="-1449" r="50326" b="-1877"/>
          <a:stretch>
            <a:fillRect/>
          </a:stretch>
        </p:blipFill>
        <p:spPr>
          <a:xfrm>
            <a:off x="9136502" y="227759"/>
            <a:ext cx="2900823" cy="22245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111" y="5571988"/>
            <a:ext cx="2610214" cy="98121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GRU Model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3" y="2763520"/>
            <a:ext cx="5884342" cy="3484879"/>
          </a:xfrm>
        </p:spPr>
        <p:txBody>
          <a:bodyPr>
            <a:normAutofit/>
          </a:bodyPr>
          <a:lstStyle/>
          <a:p>
            <a:r>
              <a:rPr lang="en-US" dirty="0"/>
              <a:t>This section repeats a similar process, but with a </a:t>
            </a:r>
            <a:r>
              <a:rPr lang="en-US" b="1" dirty="0"/>
              <a:t>Gated Recurrent Unit (GRU)</a:t>
            </a:r>
            <a:r>
              <a:rPr lang="en-US" dirty="0"/>
              <a:t> model instead of </a:t>
            </a:r>
            <a:r>
              <a:rPr lang="en-US" dirty="0" err="1"/>
              <a:t>BiLSTM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A GRU is a more efficient alternative to LSTM that often performs similarly but trains faster.</a:t>
            </a:r>
            <a:br>
              <a:rPr lang="en-US" dirty="0"/>
            </a:br>
            <a:r>
              <a:rPr lang="en-US" dirty="0"/>
              <a:t>Here, the idea is to </a:t>
            </a:r>
            <a:r>
              <a:rPr lang="en-US" b="1" dirty="0"/>
              <a:t>compare</a:t>
            </a:r>
            <a:r>
              <a:rPr lang="en-US" dirty="0"/>
              <a:t> how GRU performs on the same task and dataset.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625" y="0"/>
            <a:ext cx="4210638" cy="32770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021" y="4181754"/>
            <a:ext cx="2657846" cy="171473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loss validation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3313" y="2573503"/>
            <a:ext cx="8947150" cy="3154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078" y="5714999"/>
            <a:ext cx="6763694" cy="543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3. Word2Vec Embeddings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094" y="2155085"/>
            <a:ext cx="5693273" cy="348487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Now the focus shifts to </a:t>
            </a:r>
            <a:r>
              <a:rPr lang="en-US" sz="1900" b="1" dirty="0"/>
              <a:t>word embeddings</a:t>
            </a:r>
            <a:r>
              <a:rPr lang="en-US" sz="1900" dirty="0"/>
              <a:t>, specifically </a:t>
            </a:r>
            <a:r>
              <a:rPr lang="en-US" sz="1900" b="1" dirty="0"/>
              <a:t>Word2Vec</a:t>
            </a:r>
            <a:r>
              <a:rPr lang="en-US" sz="1900" dirty="0"/>
              <a:t>, which learns vector representations of words based on their contexts in text.</a:t>
            </a: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In this section:</a:t>
            </a: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A </a:t>
            </a:r>
            <a:r>
              <a:rPr lang="en-US" sz="1900" b="1" dirty="0"/>
              <a:t>Word2Vec model</a:t>
            </a:r>
            <a:r>
              <a:rPr lang="en-US" sz="1900" dirty="0"/>
              <a:t> is trained on the dataset (or pre-trained vectors are loaded).</a:t>
            </a: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The notebook extracts </a:t>
            </a:r>
            <a:r>
              <a:rPr lang="en-US" sz="1900" b="1" dirty="0"/>
              <a:t>word embeddings</a:t>
            </a:r>
            <a:r>
              <a:rPr lang="en-US" sz="1900" dirty="0"/>
              <a:t> for each text sample.</a:t>
            </a: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These embeddings are then used to train a </a:t>
            </a:r>
            <a:r>
              <a:rPr lang="en-US" sz="1900" b="1" dirty="0"/>
              <a:t>simpler classifier</a:t>
            </a:r>
            <a:r>
              <a:rPr lang="en-US" sz="1900" dirty="0"/>
              <a:t> (like logistic regression) for sentiment prediction.</a:t>
            </a: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The goal is to show that even without deep networks, </a:t>
            </a:r>
            <a:r>
              <a:rPr lang="en-US" sz="1900" b="1" dirty="0"/>
              <a:t>word embeddings + classical ML</a:t>
            </a:r>
            <a:r>
              <a:rPr lang="en-US" sz="1900" dirty="0"/>
              <a:t> can perform well.</a:t>
            </a:r>
            <a:endParaRPr lang="en-US" sz="1900" dirty="0"/>
          </a:p>
          <a:p>
            <a:pPr>
              <a:lnSpc>
                <a:spcPct val="90000"/>
              </a:lnSpc>
            </a:pPr>
            <a:endParaRPr lang="en-US" sz="1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4763" y="2379146"/>
            <a:ext cx="4648849" cy="91452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4. FastText Embeddings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This section introduces </a:t>
            </a:r>
            <a:r>
              <a:rPr lang="en-US" b="1" dirty="0" err="1"/>
              <a:t>FastText</a:t>
            </a:r>
            <a:r>
              <a:rPr lang="en-US" dirty="0"/>
              <a:t>, another embedding method created by Facebook AI that extends Word2Vec by considering </a:t>
            </a:r>
            <a:r>
              <a:rPr lang="en-US" dirty="0" err="1"/>
              <a:t>subword</a:t>
            </a:r>
            <a:r>
              <a:rPr lang="en-US" dirty="0"/>
              <a:t> information (useful for morphologically rich languages like Swahili).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Steps typically include: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Training or loading </a:t>
            </a:r>
            <a:r>
              <a:rPr lang="en-US" dirty="0" err="1"/>
              <a:t>FastText</a:t>
            </a:r>
            <a:r>
              <a:rPr lang="en-US" dirty="0"/>
              <a:t> embeddings.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Representing text as averaged </a:t>
            </a:r>
            <a:r>
              <a:rPr lang="en-US" dirty="0" err="1"/>
              <a:t>FastText</a:t>
            </a:r>
            <a:r>
              <a:rPr lang="en-US" dirty="0"/>
              <a:t> vectors.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Using those vectors for classification (e.g., logistic regression, SVM).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The main goal here is to show that </a:t>
            </a:r>
            <a:r>
              <a:rPr lang="en-US" b="1" dirty="0" err="1"/>
              <a:t>FastText</a:t>
            </a:r>
            <a:r>
              <a:rPr lang="en-US" b="1" dirty="0"/>
              <a:t> handles rare words and local languages</a:t>
            </a:r>
            <a:r>
              <a:rPr lang="en-US" dirty="0"/>
              <a:t> better than Word2Vec.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151" y="3746392"/>
            <a:ext cx="5191850" cy="105742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US"/>
              <a:t>Model comparision</a:t>
            </a:r>
            <a:endParaRPr lang="en-US"/>
          </a:p>
        </p:txBody>
      </p:sp>
      <p:sp>
        <p:nvSpPr>
          <p:cNvPr id="32" name="Freeform: Shap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55" y="141674"/>
            <a:ext cx="6215526" cy="4195480"/>
          </a:xfrm>
          <a:prstGeom prst="rect">
            <a:avLst/>
          </a:prstGeom>
          <a:effectLst/>
        </p:spPr>
      </p:pic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US" dirty="0"/>
              <a:t>Here we used confusion matrix and misclassification analysis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541" y="4752909"/>
            <a:ext cx="5885013" cy="1824354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05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57" name="Picture 2056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059" name="Oval 20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61" name="Picture 2060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63" name="Picture 206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65" name="Rectangle 206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7" name="Rectangle 206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9148" y="643467"/>
            <a:ext cx="891370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Rectangle 206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5" name="Picture 309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96" name="Picture 309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97" name="Oval 309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098" name="Picture 3097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099" name="Picture 309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100" name="Rectangle 309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101" name="Rectangle 310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2" name="Rectangle 310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5F5F5F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546" y="1599853"/>
            <a:ext cx="10905066" cy="346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5" name="Picture 2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7" name="Oval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1" name="Picture 30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Tokenization strategies and Embedding analysis </a:t>
            </a:r>
            <a:endParaRPr lang="en-US" sz="38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Freeform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Rectangl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54" y="1602437"/>
            <a:ext cx="6270662" cy="3652660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3" name="Picture 410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105" name="Picture 4104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107" name="Oval 410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09" name="Picture 410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11" name="Picture 4110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13" name="Rectangle 41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115" name="Rectangle 41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7" name="Rectangle 41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50800" dir="5400000" algn="ctr" rotWithShape="0">
              <a:srgbClr val="5F5F5F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530" y="480060"/>
            <a:ext cx="649686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4399" y="739397"/>
            <a:ext cx="4380344" cy="215295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2784</Words>
  <Application>WPS Presentation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Wingdings 3</vt:lpstr>
      <vt:lpstr>Symbol</vt:lpstr>
      <vt:lpstr>Arial</vt:lpstr>
      <vt:lpstr>Century Gothic</vt:lpstr>
      <vt:lpstr>Microsoft YaHei</vt:lpstr>
      <vt:lpstr>Arial Unicode MS</vt:lpstr>
      <vt:lpstr>Calibri</vt:lpstr>
      <vt:lpstr>Century Gothic</vt:lpstr>
      <vt:lpstr>Ion</vt:lpstr>
      <vt:lpstr>Natural Language Processing </vt:lpstr>
      <vt:lpstr>Data Loading &amp; Preprocessing </vt:lpstr>
      <vt:lpstr>PowerPoint 演示文稿</vt:lpstr>
      <vt:lpstr>PowerPoint 演示文稿</vt:lpstr>
      <vt:lpstr>BiLSTM Model with Custom Embeddings</vt:lpstr>
      <vt:lpstr>GRU Model </vt:lpstr>
      <vt:lpstr>Training loss validation</vt:lpstr>
      <vt:lpstr>3. Word2Vec Embeddings </vt:lpstr>
      <vt:lpstr>4. FastText Embeddings </vt:lpstr>
      <vt:lpstr>Model comparision</vt:lpstr>
      <vt:lpstr>PowerPoint 演示文稿</vt:lpstr>
      <vt:lpstr>PowerPoint 演示文稿</vt:lpstr>
      <vt:lpstr>Tokenization strategies and Embedding analysis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Hansen Andrew</dc:creator>
  <cp:lastModifiedBy>Captain Newtons</cp:lastModifiedBy>
  <cp:revision>3</cp:revision>
  <dcterms:created xsi:type="dcterms:W3CDTF">2025-10-28T17:57:00Z</dcterms:created>
  <dcterms:modified xsi:type="dcterms:W3CDTF">2025-10-29T07:15:12Z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38D3006C217B441084BECFD70C1A3A8C_12</vt:lpwstr>
  </property>
  <property fmtid="{D5CDD505-2E9C-101B-9397-08002B2CF9AE}" pid="3" name="KSOProductBuildVer">
    <vt:lpwstr>2057-12.2.0.23147</vt:lpwstr>
  </property>
</Properties>
</file>